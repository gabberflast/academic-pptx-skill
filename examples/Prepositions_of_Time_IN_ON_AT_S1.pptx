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780C-C2A8-D268-6C22-706536F1E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A0C6-C5DC-3D1A-E528-78EDA4C5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A8223-0ACC-24D4-B3E6-829EF268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CACB-EA04-EA04-1F7E-5C8D5708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7E700-F925-EF96-CC1D-933BCF4E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CD6A-FFEE-EF4A-AA75-7A6A2808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2064F-B8A6-3958-0AA3-BDA421DD4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00E1-CB4E-C09A-4D2F-FE1B26FE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BFB16-B821-712E-75E5-CCD5EFA7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A8A84-1772-8514-8531-D47CF9B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63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C76B-859D-3209-B032-FA1C1A91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44B73-16D1-A732-9DAB-5B2A47931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526DE-70A3-D5FB-B6BA-A8653357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A492B-1F3C-75F9-6654-81620DC1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516AF-3ACA-E286-10BB-5F213C43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04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92A2-57BC-95F7-4DFE-D72AD422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F788-E0B3-FA8E-D786-54CBC9451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C6864-33A8-3CF3-CF49-8F998B33A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1535C-35BB-4BC0-AA06-2E03B9FD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A4EDF-2307-646E-14F9-14F23733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CCBCA-10E9-0ABF-20C2-368C3BB7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0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46AF-746E-54CD-B0CC-7675EA39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E8CA6-49EC-9241-5954-399E7B8DD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38D3E-8675-38A8-E039-289B5E60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6DB8E-2D4D-05C7-68B1-27B4FCB75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E0622-DC38-4787-0789-73421D569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45D7A-8163-5E37-7500-C6516E17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FF5EB-0E68-8F83-636B-18F5FB0A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3EA2D-0F7C-0666-3DFF-2D687B7B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5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93A8-04AF-2E7D-D6C4-B51D14CA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5BA46-0749-00F7-AED9-F188EEA5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8E5D9-5EAC-E703-C53A-9E41A739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4283-1EE8-A89E-796D-334F20F5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A5514-CB63-3C08-9BE2-52751653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C92CC-C520-54C6-E3ED-2054C98B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C0C04-F5DB-AF18-4AAF-CE898927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30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F786-1CE0-C74C-62D1-20333E3B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2AB4-F570-DF41-19A0-6998FB5F3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0FDA4-8891-C520-BC8C-976D5AD16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F3918-A8AE-B0FA-593A-083922AD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F726C-50B5-80A4-2287-D0EECF3E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270A6-7937-B498-3077-D413DD33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44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BFC7-2BCA-5249-CFC1-15A5B7F0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81669-87A2-765C-CF66-C1225D917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53213-A3CE-EF65-2C9D-AEBB664CD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DB339-70AE-7331-D73C-25D6712B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0C7D7-6744-FEC9-DCE1-C93494FD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FBA99-9304-3249-D788-2932298D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54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D448-6505-3FCF-0D24-33C734F0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0D1F9-B977-EFDC-30A1-428544ACD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9435-B2B7-8F67-219D-8B598A6F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58702-F795-D34F-883A-C5C13FD5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3554-4D2A-AE09-701E-F8656050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7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DAF49-6F7E-BD0E-55D7-A5F4E3F24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5B27D-3361-DF2F-6A1C-8FBCD9464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9ED76-F288-56CE-FE0E-00F8CA7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90FBC-AD69-4000-EE91-D6395F1A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C312-E2DE-0782-B0F5-CEF3EE3EC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759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48AD2-C4DA-3062-D7D3-304A2428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FB031-F50D-AB12-3134-1194F76A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66BA2-CCE4-0261-95E4-7D6452DC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9B6D4-A068-8C44-827F-0C70758FC37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6B85-7B6E-6343-1EEE-C81C19F5A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AE8E-761A-E3EE-38BC-C4FD94B78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8D942-751F-EA45-BBFC-21997678EC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7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Prepositions of Time: IN, ON, 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200"/>
              <a:t>Today: use IN, ON, and AT to talk about when things happen</a:t>
            </a:r>
          </a:p>
          <a:p>
            <a:pPr algn="ctr"/>
            <a:r>
              <a:rPr sz="1600">
                <a:solidFill>
                  <a:srgbClr val="777777"/>
                </a:solidFill>
              </a:rPr>
              <a:t>Wednesday, 4 March 2026  ·  S.1  ·  Period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18320" cy="12801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48840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841"/>
                </a:solidFill>
                <a:latin typeface="Aptos"/>
              </a:rPr>
              <a:t>Today we will use IN, ON, and AT correctly to talk and write about when things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2D2D2D"/>
                </a:solidFill>
                <a:latin typeface="Aptos"/>
              </a:rPr>
              <a:t>By the end of this lesson, you can: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• Use IN with months, years, and seasons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• Use ON with days and dates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• Use AT with exact times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• Choose the correct preposition in sentences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Warm-Up: When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2000"/>
              </a:spcAft>
            </a:pPr>
            <a:r>
              <a:rPr sz="2400" b="1">
                <a:solidFill>
                  <a:srgbClr val="2D2D2D"/>
                </a:solidFill>
                <a:latin typeface="Aptos"/>
              </a:rPr>
              <a:t>Answer these questions with your partner: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1. What month is your birthday </a:t>
            </a: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2D2D2D"/>
                </a:solidFill>
                <a:latin typeface="Aptos"/>
              </a:rPr>
              <a:t>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2. What day is our English class </a:t>
            </a: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2D2D2D"/>
                </a:solidFill>
                <a:latin typeface="Aptos"/>
              </a:rPr>
              <a:t>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3. What time does school start </a:t>
            </a: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2D2D2D"/>
                </a:solidFill>
                <a:latin typeface="Aptos"/>
              </a:rPr>
              <a:t>?</a:t>
            </a:r>
          </a:p>
          <a:p>
            <a:pPr>
              <a:spcAft>
                <a:spcPts val="0"/>
              </a:spcAft>
            </a:pPr>
          </a:p>
          <a:p>
            <a:r>
              <a:rPr sz="2000" b="1">
                <a:solidFill>
                  <a:srgbClr val="156082"/>
                </a:solidFill>
                <a:latin typeface="Aptos"/>
              </a:rPr>
              <a:t>HINT: </a:t>
            </a:r>
            <a:r>
              <a:rPr sz="2000" i="1">
                <a:solidFill>
                  <a:srgbClr val="156082"/>
                </a:solidFill>
                <a:latin typeface="Aptos"/>
              </a:rPr>
              <a:t>The answer uses the preposition at the end of the question!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Prepositions of Time: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3272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841"/>
                </a:solidFill>
                <a:latin typeface="Aptos"/>
              </a:rPr>
              <a:t>RULE: </a:t>
            </a:r>
            <a:r>
              <a:rPr sz="2400">
                <a:solidFill>
                  <a:srgbClr val="0E2841"/>
                </a:solidFill>
                <a:latin typeface="Aptos"/>
              </a:rPr>
              <a:t>Use </a:t>
            </a:r>
            <a:r>
              <a:rPr sz="26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0E2841"/>
                </a:solidFill>
                <a:latin typeface="Aptos"/>
              </a:rPr>
              <a:t> with months, years, seasons, and parts of the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082"/>
                </a:solidFill>
                <a:latin typeface="Aptos"/>
              </a:rP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My birthday is </a:t>
            </a: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2D2D2D"/>
                </a:solidFill>
                <a:latin typeface="Aptos"/>
              </a:rPr>
              <a:t> March.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She was born </a:t>
            </a: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2D2D2D"/>
                </a:solidFill>
                <a:latin typeface="Aptos"/>
              </a:rPr>
              <a:t> 2013.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We go swimming </a:t>
            </a: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2D2D2D"/>
                </a:solidFill>
                <a:latin typeface="Aptos"/>
              </a:rPr>
              <a:t> the summer.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I do my homework </a:t>
            </a: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2D2D2D"/>
                </a:solidFill>
                <a:latin typeface="Aptos"/>
              </a:rPr>
              <a:t> the evening.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Prepositions of Time: 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3272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841"/>
                </a:solidFill>
                <a:latin typeface="Aptos"/>
              </a:rPr>
              <a:t>RULE: </a:t>
            </a:r>
            <a:r>
              <a:rPr sz="2400">
                <a:solidFill>
                  <a:srgbClr val="0E2841"/>
                </a:solidFill>
                <a:latin typeface="Aptos"/>
              </a:rPr>
              <a:t>Use </a:t>
            </a:r>
            <a:r>
              <a:rPr sz="26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0E2841"/>
                </a:solidFill>
                <a:latin typeface="Aptos"/>
              </a:rPr>
              <a:t> with days of the week and specific 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082"/>
                </a:solidFill>
                <a:latin typeface="Aptos"/>
              </a:rP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We have English class </a:t>
            </a: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2D2D2D"/>
                </a:solidFill>
                <a:latin typeface="Aptos"/>
              </a:rPr>
              <a:t> Monday.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Her birthday is </a:t>
            </a: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2D2D2D"/>
                </a:solidFill>
                <a:latin typeface="Aptos"/>
              </a:rPr>
              <a:t> 15th April.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I play football </a:t>
            </a: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2D2D2D"/>
                </a:solidFill>
                <a:latin typeface="Aptos"/>
              </a:rPr>
              <a:t> Saturdays.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The test is </a:t>
            </a: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2D2D2D"/>
                </a:solidFill>
                <a:latin typeface="Aptos"/>
              </a:rPr>
              <a:t> Friday.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Prepositions of Time: 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3272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E2841"/>
                </a:solidFill>
                <a:latin typeface="Aptos"/>
              </a:rPr>
              <a:t>RULE: </a:t>
            </a:r>
            <a:r>
              <a:rPr sz="2400">
                <a:solidFill>
                  <a:srgbClr val="0E2841"/>
                </a:solidFill>
                <a:latin typeface="Aptos"/>
              </a:rPr>
              <a:t>Use </a:t>
            </a:r>
            <a:r>
              <a:rPr sz="26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0E2841"/>
                </a:solidFill>
                <a:latin typeface="Aptos"/>
              </a:rPr>
              <a:t> with exact times, </a:t>
            </a:r>
            <a:r>
              <a:rPr sz="2400" b="1">
                <a:solidFill>
                  <a:srgbClr val="0E2841"/>
                </a:solidFill>
                <a:latin typeface="Aptos"/>
              </a:rPr>
              <a:t>night</a:t>
            </a:r>
            <a:r>
              <a:rPr sz="2400">
                <a:solidFill>
                  <a:srgbClr val="0E2841"/>
                </a:solidFill>
                <a:latin typeface="Aptos"/>
              </a:rPr>
              <a:t>, and </a:t>
            </a:r>
            <a:r>
              <a:rPr sz="2400" b="1">
                <a:solidFill>
                  <a:srgbClr val="0E2841"/>
                </a:solidFill>
                <a:latin typeface="Aptos"/>
              </a:rPr>
              <a:t>the weekend</a:t>
            </a:r>
            <a:r>
              <a:rPr sz="2400">
                <a:solidFill>
                  <a:srgbClr val="0E2841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082"/>
                </a:solidFill>
                <a:latin typeface="Aptos"/>
              </a:rP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School starts </a:t>
            </a: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2D2D2D"/>
                </a:solidFill>
                <a:latin typeface="Aptos"/>
              </a:rPr>
              <a:t> 8:00 a.m.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I go to bed </a:t>
            </a: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2D2D2D"/>
                </a:solidFill>
                <a:latin typeface="Aptos"/>
              </a:rPr>
              <a:t> night.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We go to the park </a:t>
            </a: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2D2D2D"/>
                </a:solidFill>
                <a:latin typeface="Aptos"/>
              </a:rPr>
              <a:t> the weekend.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2D2D2D"/>
                </a:solidFill>
                <a:latin typeface="Aptos"/>
              </a:rPr>
              <a:t>The film starts </a:t>
            </a: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2D2D2D"/>
                </a:solidFill>
                <a:latin typeface="Aptos"/>
              </a:rPr>
              <a:t> 7:30.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IN, ON, or AT? —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017520"/>
                <a:gridCol w="301752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Preposition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Use with...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Signal words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67E22"/>
                          </a:solidFill>
                          <a:latin typeface="Aptos"/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months, years,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seasons, parts of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March, 2026,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summer, the evening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I was born in 2013.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67E22"/>
                          </a:solidFill>
                          <a:latin typeface="Aptos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days,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Monday, 15th April,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Saturdays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We play on Fridays.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67E22"/>
                          </a:solidFill>
                          <a:latin typeface="Aptos"/>
                        </a:rPr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exact times,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night, the 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8:00, night,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the 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Class starts at 8:00.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56082"/>
                          </a:solidFill>
                          <a:latin typeface="Aptos"/>
                        </a:rPr>
                        <a:t>REMEMBER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No preposition with: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last, next, this, every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last Monday,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next 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I went last Friday.</a:t>
                      </a:r>
                    </a:p>
                    <a:p>
                      <a:r>
                        <a:rPr sz="1700">
                          <a:solidFill>
                            <a:srgbClr val="2D2D2D"/>
                          </a:solidFill>
                          <a:latin typeface="Aptos"/>
                        </a:rPr>
                        <a:t>(NOT on last Friday)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to Practise!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IN, ON, and AT in exercises.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 in the Blank — IN, ON, or 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1">
                <a:solidFill>
                  <a:srgbClr val="2D2D2D"/>
                </a:solidFill>
                <a:latin typeface="Aptos"/>
              </a:rPr>
              <a:t>Complete each sentence with IN, ON, or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1. I wake up __________ 6:30 every morning.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2. My birthday is __________ July.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3. We don't have school __________ Saturday.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4. She reads before bed __________ night.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5. The concert is __________ 21st December.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6. It is very cold __________ winter.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the Correct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2D2D2D"/>
                </a:solidFill>
                <a:latin typeface="Aptos"/>
              </a:rPr>
              <a:t>1. School starts __________ 8 o'clock.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56082"/>
                </a:solidFill>
                <a:latin typeface="Aptos"/>
              </a:rPr>
              <a:t>A) in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B) on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C) at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D2D2D"/>
                </a:solidFill>
                <a:latin typeface="Aptos"/>
              </a:rPr>
              <a:t>2. We have a holiday __________ October.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56082"/>
                </a:solidFill>
                <a:latin typeface="Aptos"/>
              </a:rPr>
              <a:t>A) in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B) on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C) at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D2D2D"/>
                </a:solidFill>
                <a:latin typeface="Aptos"/>
              </a:rPr>
              <a:t>3. The party is __________ Saturday.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56082"/>
                </a:solidFill>
                <a:latin typeface="Aptos"/>
              </a:rPr>
              <a:t>A) in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B) on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C) at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D2D2D"/>
                </a:solidFill>
                <a:latin typeface="Aptos"/>
              </a:rPr>
              <a:t>4. I do exercise __________ the morning.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156082"/>
                </a:solidFill>
                <a:latin typeface="Aptos"/>
              </a:rPr>
              <a:t>A) in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B) on</a:t>
            </a:r>
            <a:r>
              <a:rPr sz="2200">
                <a:solidFill>
                  <a:srgbClr val="2D2D2D"/>
                </a:solidFill>
                <a:latin typeface="Aptos"/>
              </a:rPr>
              <a:t>     </a:t>
            </a:r>
            <a:r>
              <a:rPr sz="2200">
                <a:solidFill>
                  <a:srgbClr val="156082"/>
                </a:solidFill>
                <a:latin typeface="Aptos"/>
              </a:rPr>
              <a:t>C) 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and Fix the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1">
                <a:solidFill>
                  <a:srgbClr val="2D2D2D"/>
                </a:solidFill>
                <a:latin typeface="Aptos"/>
              </a:rPr>
              <a:t>Each sentence has ONE mistake with the preposition. Find it and correct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1. I was born at 2013.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2. We have English in Monday.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3. The film starts in 7:30.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4. She goes shopping at Saturdays.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5. It is very hot on summer.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6. I brush my teeth on the morning.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669280"/>
            <a:ext cx="10332720" cy="6400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156082"/>
                </a:solidFill>
                <a:latin typeface="Aptos"/>
              </a:rPr>
              <a:t>HINT: Think — is it a time, a day, a month, or a season?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Daily Routine — Use IN, ON,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1">
                <a:solidFill>
                  <a:srgbClr val="2D2D2D"/>
                </a:solidFill>
                <a:latin typeface="Aptos"/>
              </a:rPr>
              <a:t>Complete these sentences about YOUR daily routine. Use IN, ON, or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I wake up </a:t>
            </a:r>
            <a:r>
              <a:rPr sz="2200" b="1">
                <a:solidFill>
                  <a:srgbClr val="156082"/>
                </a:solidFill>
                <a:latin typeface="Aptos"/>
              </a:rPr>
              <a:t>______</a:t>
            </a:r>
            <a:r>
              <a:rPr sz="2200">
                <a:solidFill>
                  <a:srgbClr val="2D2D2D"/>
                </a:solidFill>
                <a:latin typeface="Aptos"/>
              </a:rPr>
              <a:t> ____________ every day.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I have lunch </a:t>
            </a:r>
            <a:r>
              <a:rPr sz="2200" b="1">
                <a:solidFill>
                  <a:srgbClr val="156082"/>
                </a:solidFill>
                <a:latin typeface="Aptos"/>
              </a:rPr>
              <a:t>______</a:t>
            </a:r>
            <a:r>
              <a:rPr sz="2200">
                <a:solidFill>
                  <a:srgbClr val="2D2D2D"/>
                </a:solidFill>
                <a:latin typeface="Aptos"/>
              </a:rPr>
              <a:t> ____________.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I play with my friends </a:t>
            </a:r>
            <a:r>
              <a:rPr sz="2200" b="1">
                <a:solidFill>
                  <a:srgbClr val="156082"/>
                </a:solidFill>
                <a:latin typeface="Aptos"/>
              </a:rPr>
              <a:t>______</a:t>
            </a:r>
            <a:r>
              <a:rPr sz="2200">
                <a:solidFill>
                  <a:srgbClr val="2D2D2D"/>
                </a:solidFill>
                <a:latin typeface="Aptos"/>
              </a:rPr>
              <a:t> ____________.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I go to bed </a:t>
            </a:r>
            <a:r>
              <a:rPr sz="2200" b="1">
                <a:solidFill>
                  <a:srgbClr val="156082"/>
                </a:solidFill>
                <a:latin typeface="Aptos"/>
              </a:rPr>
              <a:t>______</a:t>
            </a:r>
            <a:r>
              <a:rPr sz="2200">
                <a:solidFill>
                  <a:srgbClr val="2D2D2D"/>
                </a:solidFill>
                <a:latin typeface="Aptos"/>
              </a:rPr>
              <a:t> ____________.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D2D2D"/>
                </a:solidFill>
                <a:latin typeface="Aptos"/>
              </a:rPr>
              <a:t>I don't have school </a:t>
            </a:r>
            <a:r>
              <a:rPr sz="2200" b="1">
                <a:solidFill>
                  <a:srgbClr val="156082"/>
                </a:solidFill>
                <a:latin typeface="Aptos"/>
              </a:rPr>
              <a:t>______</a:t>
            </a:r>
            <a:r>
              <a:rPr sz="2200">
                <a:solidFill>
                  <a:srgbClr val="2D2D2D"/>
                </a:solidFill>
                <a:latin typeface="Aptos"/>
              </a:rPr>
              <a:t> ____________.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10332720" cy="10058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6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2578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A4000"/>
                </a:solidFill>
                <a:latin typeface="Aptos"/>
              </a:rPr>
              <a:t>TIME WORDS — choose the correct preposition!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5A4000"/>
                </a:solidFill>
                <a:latin typeface="Aptos"/>
              </a:rPr>
              <a:t>7:00 a.m.  ·  12:30  ·  Saturdays  ·  the weekend  ·  the afternoon  ·  night  ·  10:00 p.m.  ·  Sunday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0BBDD"/>
                </a:solidFill>
                <a:latin typeface="Aptos Display"/>
              </a:rPr>
              <a:t>What We Learned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60120"/>
            <a:ext cx="10515600" cy="38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>
                <a:solidFill>
                  <a:srgbClr val="E67E22"/>
                </a:solidFill>
                <a:latin typeface="Aptos"/>
              </a:rPr>
              <a:t>IN</a:t>
            </a:r>
            <a:r>
              <a:rPr sz="2400">
                <a:solidFill>
                  <a:srgbClr val="FFFFFF"/>
                </a:solidFill>
                <a:latin typeface="Aptos"/>
              </a:rPr>
              <a:t> → months, years, seasons, parts of the day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E67E22"/>
                </a:solidFill>
                <a:latin typeface="Aptos"/>
              </a:rPr>
              <a:t>ON</a:t>
            </a:r>
            <a:r>
              <a:rPr sz="2400">
                <a:solidFill>
                  <a:srgbClr val="FFFFFF"/>
                </a:solidFill>
                <a:latin typeface="Aptos"/>
              </a:rPr>
              <a:t> → days of the week, specific dates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E67E22"/>
                </a:solidFill>
                <a:latin typeface="Aptos"/>
              </a:rPr>
              <a:t>AT</a:t>
            </a:r>
            <a:r>
              <a:rPr sz="2400">
                <a:solidFill>
                  <a:srgbClr val="FFFFFF"/>
                </a:solidFill>
                <a:latin typeface="Aptos"/>
              </a:rPr>
              <a:t> → exact times, night, the weekend</a:t>
            </a:r>
          </a:p>
          <a:p>
            <a:pPr>
              <a:spcAft>
                <a:spcPts val="1600"/>
              </a:spcAft>
            </a:pPr>
            <a:r>
              <a:rPr sz="2400" b="1">
                <a:solidFill>
                  <a:srgbClr val="A0BBDD"/>
                </a:solidFill>
                <a:latin typeface="Aptos"/>
              </a:rPr>
              <a:t>NO preposition</a:t>
            </a:r>
            <a:r>
              <a:rPr sz="2400">
                <a:solidFill>
                  <a:srgbClr val="FFFFFF"/>
                </a:solidFill>
                <a:latin typeface="Aptos"/>
              </a:rPr>
              <a:t> → with last, next, this, every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0BBDD"/>
                </a:solidFill>
                <a:latin typeface="Aptos"/>
              </a:rPr>
              <a:t>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166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CADCFC"/>
                </a:solidFill>
                <a:latin typeface="Aptos"/>
              </a:rPr>
              <a:t>Workbook p. 22, exercises 1–3.
Write 5 sentences about your weekly routine using IN, ON, and 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Adam Christopher Hadfield</dc:creator>
  <cp:lastModifiedBy>James Adam Christopher Hadfield</cp:lastModifiedBy>
  <cp:revision>1</cp:revision>
  <dcterms:created xsi:type="dcterms:W3CDTF">2026-03-04T00:45:37Z</dcterms:created>
  <dcterms:modified xsi:type="dcterms:W3CDTF">2026-03-04T00:46:05Z</dcterms:modified>
</cp:coreProperties>
</file>